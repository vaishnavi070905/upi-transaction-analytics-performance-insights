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3710E-6C02-4B22-BFDE-0850479B8D70}" v="3" dt="2026-08-12T17:51:56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Nagpure" userId="b7514f6d448173a8" providerId="LiveId" clId="{AE13710E-6C02-4B22-BFDE-0850479B8D70}"/>
    <pc:docChg chg="custSel addSld modSld">
      <pc:chgData name="Vaishnavi Nagpure" userId="b7514f6d448173a8" providerId="LiveId" clId="{AE13710E-6C02-4B22-BFDE-0850479B8D70}" dt="2026-08-12T17:52:26.126" v="207" actId="113"/>
      <pc:docMkLst>
        <pc:docMk/>
      </pc:docMkLst>
      <pc:sldChg chg="addSp modSp mod">
        <pc:chgData name="Vaishnavi Nagpure" userId="b7514f6d448173a8" providerId="LiveId" clId="{AE13710E-6C02-4B22-BFDE-0850479B8D70}" dt="2026-08-12T09:26:06.437" v="10" actId="1076"/>
        <pc:sldMkLst>
          <pc:docMk/>
          <pc:sldMk cId="0" sldId="256"/>
        </pc:sldMkLst>
        <pc:picChg chg="add mod">
          <ac:chgData name="Vaishnavi Nagpure" userId="b7514f6d448173a8" providerId="LiveId" clId="{AE13710E-6C02-4B22-BFDE-0850479B8D70}" dt="2026-08-12T09:26:06.437" v="10" actId="1076"/>
          <ac:picMkLst>
            <pc:docMk/>
            <pc:sldMk cId="0" sldId="256"/>
            <ac:picMk id="9" creationId="{9C439721-ADE4-59A7-2700-4B7824BF3D1D}"/>
          </ac:picMkLst>
        </pc:picChg>
      </pc:sldChg>
      <pc:sldChg chg="addSp modSp mod">
        <pc:chgData name="Vaishnavi Nagpure" userId="b7514f6d448173a8" providerId="LiveId" clId="{AE13710E-6C02-4B22-BFDE-0850479B8D70}" dt="2026-08-12T09:26:21.092" v="12" actId="1076"/>
        <pc:sldMkLst>
          <pc:docMk/>
          <pc:sldMk cId="0" sldId="257"/>
        </pc:sldMkLst>
        <pc:picChg chg="add mod">
          <ac:chgData name="Vaishnavi Nagpure" userId="b7514f6d448173a8" providerId="LiveId" clId="{AE13710E-6C02-4B22-BFDE-0850479B8D70}" dt="2026-08-12T09:26:21.092" v="12" actId="1076"/>
          <ac:picMkLst>
            <pc:docMk/>
            <pc:sldMk cId="0" sldId="257"/>
            <ac:picMk id="11" creationId="{DDF76995-FCC3-FF28-D1A9-9A53C97BE878}"/>
          </ac:picMkLst>
        </pc:picChg>
      </pc:sldChg>
      <pc:sldChg chg="addSp modSp mod">
        <pc:chgData name="Vaishnavi Nagpure" userId="b7514f6d448173a8" providerId="LiveId" clId="{AE13710E-6C02-4B22-BFDE-0850479B8D70}" dt="2026-08-12T09:26:29.183" v="14" actId="1076"/>
        <pc:sldMkLst>
          <pc:docMk/>
          <pc:sldMk cId="0" sldId="258"/>
        </pc:sldMkLst>
        <pc:picChg chg="add mod">
          <ac:chgData name="Vaishnavi Nagpure" userId="b7514f6d448173a8" providerId="LiveId" clId="{AE13710E-6C02-4B22-BFDE-0850479B8D70}" dt="2026-08-12T09:26:29.183" v="14" actId="1076"/>
          <ac:picMkLst>
            <pc:docMk/>
            <pc:sldMk cId="0" sldId="258"/>
            <ac:picMk id="20" creationId="{5D6F4363-4556-088B-F036-8C47A25EEDD0}"/>
          </ac:picMkLst>
        </pc:picChg>
      </pc:sldChg>
      <pc:sldChg chg="addSp modSp mod">
        <pc:chgData name="Vaishnavi Nagpure" userId="b7514f6d448173a8" providerId="LiveId" clId="{AE13710E-6C02-4B22-BFDE-0850479B8D70}" dt="2026-08-12T09:26:44.061" v="17" actId="1076"/>
        <pc:sldMkLst>
          <pc:docMk/>
          <pc:sldMk cId="0" sldId="259"/>
        </pc:sldMkLst>
        <pc:picChg chg="add mod">
          <ac:chgData name="Vaishnavi Nagpure" userId="b7514f6d448173a8" providerId="LiveId" clId="{AE13710E-6C02-4B22-BFDE-0850479B8D70}" dt="2026-08-12T09:26:44.061" v="17" actId="1076"/>
          <ac:picMkLst>
            <pc:docMk/>
            <pc:sldMk cId="0" sldId="259"/>
            <ac:picMk id="22" creationId="{42EE8919-6FF9-602F-D5A3-9D41BE517DAD}"/>
          </ac:picMkLst>
        </pc:picChg>
      </pc:sldChg>
      <pc:sldChg chg="addSp delSp modSp mod">
        <pc:chgData name="Vaishnavi Nagpure" userId="b7514f6d448173a8" providerId="LiveId" clId="{AE13710E-6C02-4B22-BFDE-0850479B8D70}" dt="2026-08-12T17:11:39.247" v="180" actId="14100"/>
        <pc:sldMkLst>
          <pc:docMk/>
          <pc:sldMk cId="0" sldId="260"/>
        </pc:sldMkLst>
        <pc:picChg chg="mod">
          <ac:chgData name="Vaishnavi Nagpure" userId="b7514f6d448173a8" providerId="LiveId" clId="{AE13710E-6C02-4B22-BFDE-0850479B8D70}" dt="2026-08-12T09:24:20.710" v="0" actId="1076"/>
          <ac:picMkLst>
            <pc:docMk/>
            <pc:sldMk cId="0" sldId="260"/>
            <ac:picMk id="4" creationId="{00000000-0000-0000-0000-000000000000}"/>
          </ac:picMkLst>
        </pc:picChg>
        <pc:picChg chg="add del mod">
          <ac:chgData name="Vaishnavi Nagpure" userId="b7514f6d448173a8" providerId="LiveId" clId="{AE13710E-6C02-4B22-BFDE-0850479B8D70}" dt="2026-08-12T17:11:27.786" v="177" actId="478"/>
          <ac:picMkLst>
            <pc:docMk/>
            <pc:sldMk cId="0" sldId="260"/>
            <ac:picMk id="8" creationId="{02F569CD-D65E-813B-A8F5-6062BE68A069}"/>
          </ac:picMkLst>
        </pc:picChg>
        <pc:picChg chg="add mod">
          <ac:chgData name="Vaishnavi Nagpure" userId="b7514f6d448173a8" providerId="LiveId" clId="{AE13710E-6C02-4B22-BFDE-0850479B8D70}" dt="2026-08-12T17:11:39.247" v="180" actId="14100"/>
          <ac:picMkLst>
            <pc:docMk/>
            <pc:sldMk cId="0" sldId="260"/>
            <ac:picMk id="9" creationId="{BACF0DF2-02E8-2959-E4A3-1E1FBA4939E2}"/>
          </ac:picMkLst>
        </pc:picChg>
        <pc:picChg chg="add mod">
          <ac:chgData name="Vaishnavi Nagpure" userId="b7514f6d448173a8" providerId="LiveId" clId="{AE13710E-6C02-4B22-BFDE-0850479B8D70}" dt="2026-08-12T09:26:55.228" v="19" actId="1076"/>
          <ac:picMkLst>
            <pc:docMk/>
            <pc:sldMk cId="0" sldId="260"/>
            <ac:picMk id="10" creationId="{6AE8A82F-8EC2-1F6E-32D6-0719EE92A061}"/>
          </ac:picMkLst>
        </pc:picChg>
      </pc:sldChg>
      <pc:sldChg chg="addSp modSp mod">
        <pc:chgData name="Vaishnavi Nagpure" userId="b7514f6d448173a8" providerId="LiveId" clId="{AE13710E-6C02-4B22-BFDE-0850479B8D70}" dt="2026-08-12T12:37:16.500" v="142" actId="14100"/>
        <pc:sldMkLst>
          <pc:docMk/>
          <pc:sldMk cId="0" sldId="261"/>
        </pc:sldMkLst>
        <pc:spChg chg="mod">
          <ac:chgData name="Vaishnavi Nagpure" userId="b7514f6d448173a8" providerId="LiveId" clId="{AE13710E-6C02-4B22-BFDE-0850479B8D70}" dt="2026-08-12T12:37:16.500" v="142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7:16.500" v="142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7:16.500" v="142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7:16.500" v="142" actId="14100"/>
          <ac:spMkLst>
            <pc:docMk/>
            <pc:sldMk cId="0" sldId="261"/>
            <ac:spMk id="7" creationId="{00000000-0000-0000-0000-000000000000}"/>
          </ac:spMkLst>
        </pc:spChg>
        <pc:picChg chg="mod">
          <ac:chgData name="Vaishnavi Nagpure" userId="b7514f6d448173a8" providerId="LiveId" clId="{AE13710E-6C02-4B22-BFDE-0850479B8D70}" dt="2026-08-12T12:37:16.500" v="142" actId="14100"/>
          <ac:picMkLst>
            <pc:docMk/>
            <pc:sldMk cId="0" sldId="261"/>
            <ac:picMk id="5" creationId="{00000000-0000-0000-0000-000000000000}"/>
          </ac:picMkLst>
        </pc:picChg>
        <pc:picChg chg="mod">
          <ac:chgData name="Vaishnavi Nagpure" userId="b7514f6d448173a8" providerId="LiveId" clId="{AE13710E-6C02-4B22-BFDE-0850479B8D70}" dt="2026-08-12T12:37:16.500" v="142" actId="14100"/>
          <ac:picMkLst>
            <pc:docMk/>
            <pc:sldMk cId="0" sldId="261"/>
            <ac:picMk id="8" creationId="{00000000-0000-0000-0000-000000000000}"/>
          </ac:picMkLst>
        </pc:picChg>
        <pc:picChg chg="add mod">
          <ac:chgData name="Vaishnavi Nagpure" userId="b7514f6d448173a8" providerId="LiveId" clId="{AE13710E-6C02-4B22-BFDE-0850479B8D70}" dt="2026-08-12T09:27:06.956" v="21" actId="1076"/>
          <ac:picMkLst>
            <pc:docMk/>
            <pc:sldMk cId="0" sldId="261"/>
            <ac:picMk id="11" creationId="{38B0F9DF-68AF-D1FC-8477-ED4B67C94E51}"/>
          </ac:picMkLst>
        </pc:picChg>
      </pc:sldChg>
      <pc:sldChg chg="addSp modSp mod">
        <pc:chgData name="Vaishnavi Nagpure" userId="b7514f6d448173a8" providerId="LiveId" clId="{AE13710E-6C02-4B22-BFDE-0850479B8D70}" dt="2026-08-12T12:39:07.395" v="170" actId="1076"/>
        <pc:sldMkLst>
          <pc:docMk/>
          <pc:sldMk cId="0" sldId="262"/>
        </pc:sldMkLst>
        <pc:spChg chg="mod">
          <ac:chgData name="Vaishnavi Nagpure" userId="b7514f6d448173a8" providerId="LiveId" clId="{AE13710E-6C02-4B22-BFDE-0850479B8D70}" dt="2026-08-12T12:34:12.781" v="24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4:24.556" v="25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4:31.672" v="26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7:55.848" v="165" actId="10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4:37.666" v="27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7:55.848" v="165" actId="1036"/>
          <ac:spMkLst>
            <pc:docMk/>
            <pc:sldMk cId="0" sldId="262"/>
            <ac:spMk id="9" creationId="{00000000-0000-0000-0000-000000000000}"/>
          </ac:spMkLst>
        </pc:spChg>
        <pc:picChg chg="mod">
          <ac:chgData name="Vaishnavi Nagpure" userId="b7514f6d448173a8" providerId="LiveId" clId="{AE13710E-6C02-4B22-BFDE-0850479B8D70}" dt="2026-08-12T12:37:58.859" v="166" actId="14100"/>
          <ac:picMkLst>
            <pc:docMk/>
            <pc:sldMk cId="0" sldId="262"/>
            <ac:picMk id="5" creationId="{00000000-0000-0000-0000-000000000000}"/>
          </ac:picMkLst>
        </pc:picChg>
        <pc:picChg chg="mod">
          <ac:chgData name="Vaishnavi Nagpure" userId="b7514f6d448173a8" providerId="LiveId" clId="{AE13710E-6C02-4B22-BFDE-0850479B8D70}" dt="2026-08-12T12:38:02.065" v="167" actId="14100"/>
          <ac:picMkLst>
            <pc:docMk/>
            <pc:sldMk cId="0" sldId="262"/>
            <ac:picMk id="8" creationId="{00000000-0000-0000-0000-000000000000}"/>
          </ac:picMkLst>
        </pc:picChg>
        <pc:picChg chg="add mod">
          <ac:chgData name="Vaishnavi Nagpure" userId="b7514f6d448173a8" providerId="LiveId" clId="{AE13710E-6C02-4B22-BFDE-0850479B8D70}" dt="2026-08-12T12:39:07.395" v="170" actId="1076"/>
          <ac:picMkLst>
            <pc:docMk/>
            <pc:sldMk cId="0" sldId="262"/>
            <ac:picMk id="11" creationId="{73D7718B-B1F9-C5B5-68A3-2788EC46F5DC}"/>
          </ac:picMkLst>
        </pc:picChg>
      </pc:sldChg>
      <pc:sldChg chg="addSp modSp mod">
        <pc:chgData name="Vaishnavi Nagpure" userId="b7514f6d448173a8" providerId="LiveId" clId="{AE13710E-6C02-4B22-BFDE-0850479B8D70}" dt="2026-08-12T12:39:14.721" v="172" actId="1076"/>
        <pc:sldMkLst>
          <pc:docMk/>
          <pc:sldMk cId="0" sldId="263"/>
        </pc:sldMkLst>
        <pc:spChg chg="mod">
          <ac:chgData name="Vaishnavi Nagpure" userId="b7514f6d448173a8" providerId="LiveId" clId="{AE13710E-6C02-4B22-BFDE-0850479B8D70}" dt="2026-08-12T12:36:34.050" v="93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6:34.050" v="93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6:34.050" v="93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Vaishnavi Nagpure" userId="b7514f6d448173a8" providerId="LiveId" clId="{AE13710E-6C02-4B22-BFDE-0850479B8D70}" dt="2026-08-12T12:36:34.050" v="93" actId="14100"/>
          <ac:spMkLst>
            <pc:docMk/>
            <pc:sldMk cId="0" sldId="263"/>
            <ac:spMk id="7" creationId="{00000000-0000-0000-0000-000000000000}"/>
          </ac:spMkLst>
        </pc:spChg>
        <pc:picChg chg="mod">
          <ac:chgData name="Vaishnavi Nagpure" userId="b7514f6d448173a8" providerId="LiveId" clId="{AE13710E-6C02-4B22-BFDE-0850479B8D70}" dt="2026-08-12T12:36:34.050" v="93" actId="14100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Vaishnavi Nagpure" userId="b7514f6d448173a8" providerId="LiveId" clId="{AE13710E-6C02-4B22-BFDE-0850479B8D70}" dt="2026-08-12T12:36:34.050" v="93" actId="14100"/>
          <ac:picMkLst>
            <pc:docMk/>
            <pc:sldMk cId="0" sldId="263"/>
            <ac:picMk id="8" creationId="{00000000-0000-0000-0000-000000000000}"/>
          </ac:picMkLst>
        </pc:picChg>
        <pc:picChg chg="add mod">
          <ac:chgData name="Vaishnavi Nagpure" userId="b7514f6d448173a8" providerId="LiveId" clId="{AE13710E-6C02-4B22-BFDE-0850479B8D70}" dt="2026-08-12T12:39:14.721" v="172" actId="1076"/>
          <ac:picMkLst>
            <pc:docMk/>
            <pc:sldMk cId="0" sldId="263"/>
            <ac:picMk id="11" creationId="{7D01EB64-EC0F-32CE-F69D-A15412A1E193}"/>
          </ac:picMkLst>
        </pc:picChg>
      </pc:sldChg>
      <pc:sldChg chg="addSp modSp mod">
        <pc:chgData name="Vaishnavi Nagpure" userId="b7514f6d448173a8" providerId="LiveId" clId="{AE13710E-6C02-4B22-BFDE-0850479B8D70}" dt="2026-08-12T12:39:23.061" v="174" actId="1076"/>
        <pc:sldMkLst>
          <pc:docMk/>
          <pc:sldMk cId="0" sldId="264"/>
        </pc:sldMkLst>
        <pc:picChg chg="add mod">
          <ac:chgData name="Vaishnavi Nagpure" userId="b7514f6d448173a8" providerId="LiveId" clId="{AE13710E-6C02-4B22-BFDE-0850479B8D70}" dt="2026-08-12T12:39:23.061" v="174" actId="1076"/>
          <ac:picMkLst>
            <pc:docMk/>
            <pc:sldMk cId="0" sldId="264"/>
            <ac:picMk id="31" creationId="{1D76ACD9-E21D-FF07-46AE-181B17FBADFA}"/>
          </ac:picMkLst>
        </pc:picChg>
      </pc:sldChg>
      <pc:sldChg chg="addSp modSp new mod">
        <pc:chgData name="Vaishnavi Nagpure" userId="b7514f6d448173a8" providerId="LiveId" clId="{AE13710E-6C02-4B22-BFDE-0850479B8D70}" dt="2026-08-12T17:52:26.126" v="207" actId="113"/>
        <pc:sldMkLst>
          <pc:docMk/>
          <pc:sldMk cId="1188706726" sldId="265"/>
        </pc:sldMkLst>
        <pc:spChg chg="add mod">
          <ac:chgData name="Vaishnavi Nagpure" userId="b7514f6d448173a8" providerId="LiveId" clId="{AE13710E-6C02-4B22-BFDE-0850479B8D70}" dt="2026-08-12T17:52:26.126" v="207" actId="113"/>
          <ac:spMkLst>
            <pc:docMk/>
            <pc:sldMk cId="1188706726" sldId="265"/>
            <ac:spMk id="4" creationId="{49F4344E-5AB5-C9D5-D45E-DC395D20EA36}"/>
          </ac:spMkLst>
        </pc:spChg>
        <pc:picChg chg="add mod">
          <ac:chgData name="Vaishnavi Nagpure" userId="b7514f6d448173a8" providerId="LiveId" clId="{AE13710E-6C02-4B22-BFDE-0850479B8D70}" dt="2026-08-12T17:51:49.754" v="184" actId="1076"/>
          <ac:picMkLst>
            <pc:docMk/>
            <pc:sldMk cId="1188706726" sldId="265"/>
            <ac:picMk id="3" creationId="{E6924D59-CEB4-3606-F25B-CAB9500F32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91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3553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UPI Transaction Analytics &amp; Performance Insights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0030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Excel Data Analytics &amp; Interactive Dashboard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371534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835227"/>
            <a:ext cx="2789069" cy="287139"/>
          </a:xfrm>
          <a:prstGeom prst="roundRect">
            <a:avLst>
              <a:gd name="adj" fmla="val 22118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346765" y="4891881"/>
            <a:ext cx="31718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Presented By : Vaishnavi Dilip Nagpure</a:t>
            </a:r>
            <a:endParaRPr lang="en-US" sz="1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439721-ADE4-59A7-2700-4B7824BF3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801" y="6398549"/>
            <a:ext cx="2353003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98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885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403574"/>
            <a:ext cx="4569604" cy="3019425"/>
          </a:xfrm>
          <a:prstGeom prst="roundRect">
            <a:avLst>
              <a:gd name="adj" fmla="val 4507"/>
            </a:avLst>
          </a:prstGeom>
          <a:solidFill>
            <a:srgbClr val="111827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4357" y="2592586"/>
            <a:ext cx="4191590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4357" y="3136007"/>
            <a:ext cx="419159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project analyzes 250,000 UPI transactions drawn from a structured dataset representing real-world digital payment activity across India. The dataset spans multiple merchant categories, sender banks, and geographic regions, providing a rich foundation for behavioral and performance analysis.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26336" y="2592586"/>
            <a:ext cx="611013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This Analysis Covers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26336" y="3136007"/>
            <a:ext cx="6110135" cy="1275755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Transaction Patterns - Identify how, when, and where UPI transactions occur — by hour, category, and region.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Performance Metrics - Measure platform reliability through success rates, failure rates, and transaction volume benchmarks.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563562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Objective: Enable data-driven decision-making by combining KPIs, charts, and interactive slicers into a single analytical view.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F76995-FCC3-FF28-D1A9-9A53C97BE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97" y="6486473"/>
            <a:ext cx="2353003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653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Metrics &amp; KPIs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220913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Five headline indicators summarize the scale, financial impact, and health of the UPI platform under analysis.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13693" y="2650232"/>
            <a:ext cx="2817643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250K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3315593"/>
            <a:ext cx="35220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Transactions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624362"/>
            <a:ext cx="35220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86976" y="2650232"/>
            <a:ext cx="2817643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₹327.9M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4334759" y="3315593"/>
            <a:ext cx="35220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Transaction Value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34759" y="3624362"/>
            <a:ext cx="35220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60260" y="2650232"/>
            <a:ext cx="281774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₹1,311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8008043" y="3315593"/>
            <a:ext cx="35221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Avg. Transaction Value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08043" y="3624362"/>
            <a:ext cx="35221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50285" y="4159548"/>
            <a:ext cx="281774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95%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2498067" y="4824909"/>
            <a:ext cx="35221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Success Rate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498067" y="5133677"/>
            <a:ext cx="35221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23668" y="4159548"/>
            <a:ext cx="2817643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0.2%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6171450" y="4824909"/>
            <a:ext cx="35220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Fraud Rate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71450" y="5133677"/>
            <a:ext cx="35220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6F4363-4556-088B-F036-8C47A25E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131" y="6486110"/>
            <a:ext cx="2353003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66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Slicers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253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analytical dashboard is designed for dynamic exploration. Slicers allow users to filter the dashboard interactively and analyze specific segments of the transaction data.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42766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50765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Status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916337"/>
            <a:ext cx="285117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Failed / Successful transactions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135" y="2442766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7383" y="250765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Merchant Category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977383" y="2916337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different merchant segments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2442766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79042" y="250765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Sender State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679042" y="2916337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Analyze transactions geographically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899198"/>
            <a:ext cx="378014" cy="378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396408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Device Type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275723" y="4372769"/>
            <a:ext cx="285117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Android, iOS and Web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63135" y="3899198"/>
            <a:ext cx="378014" cy="3780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77383" y="396408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 Weekend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4977383" y="4372769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weekday and weekend activity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661475" y="5261074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Purpose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661475" y="58989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Slicers allow users to filter the dashboard interactively and analyze specific segments of the transaction data.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EE8919-6FF9-602F-D5A3-9D41BE517D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8997" y="6431431"/>
            <a:ext cx="2353003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31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Dashboard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052116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UPI Transaction Analytics Dashboard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792833"/>
            <a:ext cx="8694917" cy="3639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290344"/>
            <a:ext cx="1086874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5755184"/>
            <a:ext cx="10868745" cy="571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1050"/>
              </a:spcAft>
              <a:buNone/>
            </a:pP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8A82F-8EC2-1F6E-32D6-0719EE92A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97" y="6443611"/>
            <a:ext cx="2353003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CF0DF2-02E8-2959-E4A3-1E1FBA493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60" y="1336676"/>
            <a:ext cx="11716378" cy="5165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652"/>
            <a:ext cx="20464753" cy="73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Trends &amp; Behavior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88455"/>
            <a:ext cx="20464753" cy="71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temporal patterns stand out: monthly transaction value varies across the year, while hourly transaction activity builds through the day and peaks in the evening.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330922"/>
            <a:ext cx="9841747" cy="369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Monthly Transaction Value Trend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2768873"/>
            <a:ext cx="4985699" cy="2064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989711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Shows month-wise movement in transaction value, revealing seasonal patterns and peak activity periods.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659" y="2330922"/>
            <a:ext cx="9841747" cy="369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Transactions by Hour of Day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658" y="2768872"/>
            <a:ext cx="4937873" cy="2020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659" y="4957961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Reveals how transaction activity changes throughout the day, identifying peak usage hours for infrastructure planning.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0F9DF-68AF-D1FC-8477-ED4B67C9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2804" y="6438743"/>
            <a:ext cx="2353003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825" y="81647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&amp; Transaction Type Analysis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7825" y="1732559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Transaction value is concentrated in Shopping, while transaction volume remains led by P2P Transfers, with P2M Payments and Bill Pay &amp; Recharge making up the remainder.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7825" y="2578894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Value by Merchant Category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3044651"/>
            <a:ext cx="4865119" cy="2120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5430" y="5380857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Compares transaction value across merchant categories, showing where user spending is concentrated.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659" y="2578894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Volume by Type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658" y="3044651"/>
            <a:ext cx="5338043" cy="21202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659" y="5309337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Shows the proportion of different transaction types, defining the platform's current usage identity.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D7718B-B1F9-C5B5-68A3-2788EC46F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629" y="6438842"/>
            <a:ext cx="1943371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8511"/>
            <a:ext cx="19558988" cy="782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Bank &amp; Geographic Insights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4" y="1610806"/>
            <a:ext cx="20655974" cy="390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key views of UPI activity : The banks driving the most transactions and the states generating the highest transaction value.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253347"/>
            <a:ext cx="9385265" cy="391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Sender Banks by Transaction Count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25726"/>
            <a:ext cx="4845022" cy="19668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849813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Compares transaction counts across sender banks, signaling user adoption and platform penetration by bank.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21267" y="2253347"/>
            <a:ext cx="9385265" cy="391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States by Transaction Value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267" y="2725727"/>
            <a:ext cx="4822168" cy="2055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1267" y="4913313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Compares transaction value across states, reflecting geographic concentration of high-value activity and market potential.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01EB64-EC0F-32CE-F69D-A15412A1E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629" y="6438842"/>
            <a:ext cx="1943371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139"/>
            <a:ext cx="572875" cy="166092"/>
          </a:xfrm>
          <a:prstGeom prst="roundRect">
            <a:avLst>
              <a:gd name="adj" fmla="val 22136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27057" y="573881"/>
            <a:ext cx="1051296" cy="10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SUMMARY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32532"/>
            <a:ext cx="10868745" cy="3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Findings &amp; Conclusion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661475" y="1196677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1475" y="1331615"/>
            <a:ext cx="1086874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17294" y="2308622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250K</a:t>
            </a:r>
            <a:endParaRPr lang="en-US" sz="2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61" y="1624806"/>
            <a:ext cx="1641335" cy="16413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1475" y="3356769"/>
            <a:ext cx="265780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Transactions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54274" y="2308622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₹327.94M</a:t>
            </a:r>
            <a:endParaRPr lang="en-US" sz="2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641" y="1624806"/>
            <a:ext cx="1641335" cy="16413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8455" y="3356769"/>
            <a:ext cx="265780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Transaction Value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791254" y="2308622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95%</a:t>
            </a:r>
            <a:endParaRPr lang="en-US" sz="2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21" y="1624806"/>
            <a:ext cx="1641335" cy="16413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35435" y="3356769"/>
            <a:ext cx="265780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528234" y="2308622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0.2%</a:t>
            </a:r>
            <a:endParaRPr lang="en-US" sz="2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600" y="1624806"/>
            <a:ext cx="1641335" cy="16413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72415" y="3356769"/>
            <a:ext cx="265780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Fraud Rate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054274" y="4365427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Shopping</a:t>
            </a:r>
            <a:endParaRPr lang="en-US" sz="2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6641" y="3681611"/>
            <a:ext cx="1641335" cy="16413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98455" y="5413573"/>
            <a:ext cx="265780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Dominates Categories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791254" y="4365427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45%</a:t>
            </a:r>
            <a:endParaRPr lang="en-US" sz="21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621" y="3681611"/>
            <a:ext cx="1641335" cy="164137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35435" y="5413573"/>
            <a:ext cx="265780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P2P Transfers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61475" y="5683052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8"/>
          <p:cNvSpPr/>
          <p:nvPr/>
        </p:nvSpPr>
        <p:spPr>
          <a:xfrm>
            <a:off x="661475" y="5794276"/>
            <a:ext cx="10868745" cy="313035"/>
          </a:xfrm>
          <a:prstGeom prst="roundRect">
            <a:avLst>
              <a:gd name="adj" fmla="val 14681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11" y="5884863"/>
            <a:ext cx="136720" cy="10933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16868" y="5884863"/>
            <a:ext cx="11013601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combination of KPIs, pivot tables, charts, and slicers equips stakeholders to identify trends, detect anomalies, and make data-driven decisions that enhance platform reliability and long-term growth.</a:t>
            </a:r>
            <a:endParaRPr lang="en-US" sz="850" dirty="0"/>
          </a:p>
        </p:txBody>
      </p:sp>
      <p:sp>
        <p:nvSpPr>
          <p:cNvPr id="29" name="Text 20"/>
          <p:cNvSpPr/>
          <p:nvPr/>
        </p:nvSpPr>
        <p:spPr>
          <a:xfrm>
            <a:off x="661475" y="6178550"/>
            <a:ext cx="11478330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D76ACD9-E21D-FF07-46AE-181B17FBAD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8629" y="6388001"/>
            <a:ext cx="1943371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24D59-CEB4-3606-F25B-CAB9500F3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576" y="6295947"/>
            <a:ext cx="1962424" cy="5620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F4344E-5AB5-C9D5-D45E-DC395D20EA36}"/>
              </a:ext>
            </a:extLst>
          </p:cNvPr>
          <p:cNvSpPr txBox="1"/>
          <p:nvPr/>
        </p:nvSpPr>
        <p:spPr>
          <a:xfrm>
            <a:off x="4314775" y="2612571"/>
            <a:ext cx="36556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18870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544</Words>
  <Application>Microsoft Office PowerPoint</Application>
  <PresentationFormat>Widescreen</PresentationFormat>
  <Paragraphs>82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Lato</vt:lpstr>
      <vt:lpstr>Arial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Vaishnavi Nagpure</cp:lastModifiedBy>
  <cp:revision>1</cp:revision>
  <dcterms:created xsi:type="dcterms:W3CDTF">2026-08-12T09:23:19Z</dcterms:created>
  <dcterms:modified xsi:type="dcterms:W3CDTF">2026-08-12T17:52:35Z</dcterms:modified>
</cp:coreProperties>
</file>