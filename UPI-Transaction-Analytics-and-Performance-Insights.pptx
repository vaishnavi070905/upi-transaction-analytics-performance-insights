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embeddedFontLst>
    <p:embeddedFont>
      <p:font typeface="Gelasio" panose="020B0604020202020204" charset="0"/>
      <p:regular r:id="rId13"/>
    </p:embeddedFont>
    <p:embeddedFont>
      <p:font typeface="Lato" panose="020F0502020204030203" pitchFamily="34" charset="0"/>
      <p:regular r:id="rId1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E13710E-6C02-4B22-BFDE-0850479B8D70}" v="8" dt="2026-08-13T07:45:14.6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91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39187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4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9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33360" y="1735534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UPI Transaction Analytics &amp; Performance Insights</a:t>
            </a:r>
            <a:endParaRPr lang="en-US" sz="3700"/>
          </a:p>
        </p:txBody>
      </p:sp>
      <p:sp>
        <p:nvSpPr>
          <p:cNvPr id="4" name="Text 1"/>
          <p:cNvSpPr/>
          <p:nvPr/>
        </p:nvSpPr>
        <p:spPr>
          <a:xfrm>
            <a:off x="5233360" y="3200301"/>
            <a:ext cx="690644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Excel Data Analytics &amp; Interactive Dashboard</a:t>
            </a:r>
            <a:endParaRPr lang="en-US" sz="1450"/>
          </a:p>
        </p:txBody>
      </p:sp>
      <p:sp>
        <p:nvSpPr>
          <p:cNvPr id="5" name="Text 2"/>
          <p:cNvSpPr/>
          <p:nvPr/>
        </p:nvSpPr>
        <p:spPr>
          <a:xfrm>
            <a:off x="5233360" y="3715345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endParaRPr lang="en-US" sz="1450"/>
          </a:p>
        </p:txBody>
      </p:sp>
      <p:sp>
        <p:nvSpPr>
          <p:cNvPr id="6" name="Shape 3"/>
          <p:cNvSpPr/>
          <p:nvPr/>
        </p:nvSpPr>
        <p:spPr>
          <a:xfrm>
            <a:off x="5233360" y="4835227"/>
            <a:ext cx="2789069" cy="287139"/>
          </a:xfrm>
          <a:prstGeom prst="roundRect">
            <a:avLst>
              <a:gd name="adj" fmla="val 22118"/>
            </a:avLst>
          </a:prstGeom>
          <a:solidFill>
            <a:srgbClr val="E8E8E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4"/>
          <p:cNvSpPr/>
          <p:nvPr/>
        </p:nvSpPr>
        <p:spPr>
          <a:xfrm>
            <a:off x="5346765" y="4891881"/>
            <a:ext cx="3171845" cy="1738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15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Presented By : Vaishnavi Dilip Nagpure</a:t>
            </a:r>
            <a:endParaRPr lang="en-US" sz="115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C439721-ADE4-59A7-2700-4B7824BF3D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6801" y="6398549"/>
            <a:ext cx="2353003" cy="37152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919857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Introduction</a:t>
            </a:r>
            <a:endParaRPr lang="en-US" sz="3700"/>
          </a:p>
        </p:txBody>
      </p:sp>
      <p:sp>
        <p:nvSpPr>
          <p:cNvPr id="3" name="Text 1"/>
          <p:cNvSpPr/>
          <p:nvPr/>
        </p:nvSpPr>
        <p:spPr>
          <a:xfrm>
            <a:off x="661475" y="1888530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endParaRPr lang="en-US" sz="1450"/>
          </a:p>
        </p:txBody>
      </p:sp>
      <p:sp>
        <p:nvSpPr>
          <p:cNvPr id="4" name="Shape 2"/>
          <p:cNvSpPr/>
          <p:nvPr/>
        </p:nvSpPr>
        <p:spPr>
          <a:xfrm>
            <a:off x="525350" y="2403574"/>
            <a:ext cx="4569604" cy="3019425"/>
          </a:xfrm>
          <a:prstGeom prst="roundRect">
            <a:avLst>
              <a:gd name="adj" fmla="val 4507"/>
            </a:avLst>
          </a:prstGeom>
          <a:solidFill>
            <a:srgbClr val="111827">
              <a:alpha val="95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714357" y="2592586"/>
            <a:ext cx="4191590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>
                <a:solidFill>
                  <a:srgbClr val="FFFFFF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Project Scope</a:t>
            </a:r>
            <a:endParaRPr lang="en-US" sz="2200"/>
          </a:p>
        </p:txBody>
      </p:sp>
      <p:sp>
        <p:nvSpPr>
          <p:cNvPr id="6" name="Text 4"/>
          <p:cNvSpPr/>
          <p:nvPr/>
        </p:nvSpPr>
        <p:spPr>
          <a:xfrm>
            <a:off x="714357" y="3136007"/>
            <a:ext cx="4191590" cy="21169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This project analyzes 250,000 UPI transactions drawn from a structured dataset representing real-world digital payment activity across India. The dataset spans multiple merchant categories, sender banks, and geographic regions, providing a rich foundation for behavioral and performance analysis.</a:t>
            </a:r>
            <a:endParaRPr lang="en-US" sz="1450"/>
          </a:p>
        </p:txBody>
      </p:sp>
      <p:sp>
        <p:nvSpPr>
          <p:cNvPr id="7" name="Text 5"/>
          <p:cNvSpPr/>
          <p:nvPr/>
        </p:nvSpPr>
        <p:spPr>
          <a:xfrm>
            <a:off x="5426336" y="2592586"/>
            <a:ext cx="6110135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What This Analysis Covers</a:t>
            </a:r>
            <a:endParaRPr lang="en-US" sz="2200"/>
          </a:p>
        </p:txBody>
      </p:sp>
      <p:sp>
        <p:nvSpPr>
          <p:cNvPr id="8" name="Text 6"/>
          <p:cNvSpPr/>
          <p:nvPr/>
        </p:nvSpPr>
        <p:spPr>
          <a:xfrm>
            <a:off x="5426336" y="3136007"/>
            <a:ext cx="6110135" cy="1275755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rm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Transaction Patterns - Identify how, when, and where UPI transactions occur — by hour, category, and region.</a:t>
            </a:r>
            <a:endParaRPr lang="en-US" sz="1450"/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45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Performance Metrics - Measure platform reliability through success rates, failure rates, and transaction volume benchmarks.</a:t>
            </a:r>
            <a:endParaRPr lang="en-US" sz="1450"/>
          </a:p>
        </p:txBody>
      </p:sp>
      <p:sp>
        <p:nvSpPr>
          <p:cNvPr id="9" name="Text 7"/>
          <p:cNvSpPr/>
          <p:nvPr/>
        </p:nvSpPr>
        <p:spPr>
          <a:xfrm>
            <a:off x="661475" y="5635625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Objective: Enable data-driven decision-making by combining KPIs, charts, and interactive slicers into a single analytical view.</a:t>
            </a:r>
            <a:endParaRPr lang="en-US" sz="145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F76995-FCC3-FF28-D1A9-9A53C97BE8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8997" y="6486473"/>
            <a:ext cx="2353003" cy="37152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06538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Key Metrics &amp; KPIs</a:t>
            </a:r>
            <a:endParaRPr lang="en-US" sz="2950"/>
          </a:p>
        </p:txBody>
      </p:sp>
      <p:sp>
        <p:nvSpPr>
          <p:cNvPr id="3" name="Text 1"/>
          <p:cNvSpPr/>
          <p:nvPr/>
        </p:nvSpPr>
        <p:spPr>
          <a:xfrm>
            <a:off x="661475" y="2220913"/>
            <a:ext cx="11478330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Five headline indicators summarize the scale, financial impact, and health of the UPI platform under analysis.</a:t>
            </a:r>
            <a:endParaRPr lang="en-US" sz="1150"/>
          </a:p>
        </p:txBody>
      </p:sp>
      <p:sp>
        <p:nvSpPr>
          <p:cNvPr id="4" name="Text 2"/>
          <p:cNvSpPr/>
          <p:nvPr/>
        </p:nvSpPr>
        <p:spPr>
          <a:xfrm>
            <a:off x="1013693" y="2650232"/>
            <a:ext cx="2817643" cy="499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90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250K</a:t>
            </a:r>
            <a:endParaRPr lang="en-US" sz="3900"/>
          </a:p>
        </p:txBody>
      </p:sp>
      <p:sp>
        <p:nvSpPr>
          <p:cNvPr id="5" name="Text 3"/>
          <p:cNvSpPr/>
          <p:nvPr/>
        </p:nvSpPr>
        <p:spPr>
          <a:xfrm>
            <a:off x="661475" y="3315593"/>
            <a:ext cx="3522078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5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Total Transactions</a:t>
            </a:r>
            <a:endParaRPr lang="en-US" sz="1450"/>
          </a:p>
        </p:txBody>
      </p:sp>
      <p:sp>
        <p:nvSpPr>
          <p:cNvPr id="6" name="Text 4"/>
          <p:cNvSpPr/>
          <p:nvPr/>
        </p:nvSpPr>
        <p:spPr>
          <a:xfrm>
            <a:off x="661475" y="3624362"/>
            <a:ext cx="3522078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/>
          </a:p>
        </p:txBody>
      </p:sp>
      <p:sp>
        <p:nvSpPr>
          <p:cNvPr id="7" name="Text 5"/>
          <p:cNvSpPr/>
          <p:nvPr/>
        </p:nvSpPr>
        <p:spPr>
          <a:xfrm>
            <a:off x="4686976" y="2650232"/>
            <a:ext cx="2817643" cy="499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90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₹327.9M</a:t>
            </a:r>
            <a:endParaRPr lang="en-US" sz="3900"/>
          </a:p>
        </p:txBody>
      </p:sp>
      <p:sp>
        <p:nvSpPr>
          <p:cNvPr id="8" name="Text 6"/>
          <p:cNvSpPr/>
          <p:nvPr/>
        </p:nvSpPr>
        <p:spPr>
          <a:xfrm>
            <a:off x="4334759" y="3315593"/>
            <a:ext cx="3522078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5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Total Transaction Value</a:t>
            </a:r>
            <a:endParaRPr lang="en-US" sz="1450"/>
          </a:p>
        </p:txBody>
      </p:sp>
      <p:sp>
        <p:nvSpPr>
          <p:cNvPr id="9" name="Text 7"/>
          <p:cNvSpPr/>
          <p:nvPr/>
        </p:nvSpPr>
        <p:spPr>
          <a:xfrm>
            <a:off x="4334759" y="3624362"/>
            <a:ext cx="3522078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/>
          </a:p>
        </p:txBody>
      </p:sp>
      <p:sp>
        <p:nvSpPr>
          <p:cNvPr id="10" name="Text 8"/>
          <p:cNvSpPr/>
          <p:nvPr/>
        </p:nvSpPr>
        <p:spPr>
          <a:xfrm>
            <a:off x="8360260" y="2650232"/>
            <a:ext cx="2817742" cy="499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90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₹1,311</a:t>
            </a:r>
            <a:endParaRPr lang="en-US" sz="3900"/>
          </a:p>
        </p:txBody>
      </p:sp>
      <p:sp>
        <p:nvSpPr>
          <p:cNvPr id="11" name="Text 9"/>
          <p:cNvSpPr/>
          <p:nvPr/>
        </p:nvSpPr>
        <p:spPr>
          <a:xfrm>
            <a:off x="8008043" y="3315593"/>
            <a:ext cx="3522178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5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Avg. Transaction Value</a:t>
            </a:r>
            <a:endParaRPr lang="en-US" sz="1450"/>
          </a:p>
        </p:txBody>
      </p:sp>
      <p:sp>
        <p:nvSpPr>
          <p:cNvPr id="12" name="Text 10"/>
          <p:cNvSpPr/>
          <p:nvPr/>
        </p:nvSpPr>
        <p:spPr>
          <a:xfrm>
            <a:off x="8008043" y="3624362"/>
            <a:ext cx="3522178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/>
          </a:p>
        </p:txBody>
      </p:sp>
      <p:sp>
        <p:nvSpPr>
          <p:cNvPr id="13" name="Text 11"/>
          <p:cNvSpPr/>
          <p:nvPr/>
        </p:nvSpPr>
        <p:spPr>
          <a:xfrm>
            <a:off x="2850285" y="4159548"/>
            <a:ext cx="2817742" cy="499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90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95%</a:t>
            </a:r>
            <a:endParaRPr lang="en-US" sz="3900"/>
          </a:p>
        </p:txBody>
      </p:sp>
      <p:sp>
        <p:nvSpPr>
          <p:cNvPr id="14" name="Text 12"/>
          <p:cNvSpPr/>
          <p:nvPr/>
        </p:nvSpPr>
        <p:spPr>
          <a:xfrm>
            <a:off x="2498067" y="4824909"/>
            <a:ext cx="3522178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5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Success Rate</a:t>
            </a:r>
            <a:endParaRPr lang="en-US" sz="1450"/>
          </a:p>
        </p:txBody>
      </p:sp>
      <p:sp>
        <p:nvSpPr>
          <p:cNvPr id="15" name="Text 13"/>
          <p:cNvSpPr/>
          <p:nvPr/>
        </p:nvSpPr>
        <p:spPr>
          <a:xfrm>
            <a:off x="2498067" y="5133677"/>
            <a:ext cx="3522178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/>
          </a:p>
        </p:txBody>
      </p:sp>
      <p:sp>
        <p:nvSpPr>
          <p:cNvPr id="16" name="Text 14"/>
          <p:cNvSpPr/>
          <p:nvPr/>
        </p:nvSpPr>
        <p:spPr>
          <a:xfrm>
            <a:off x="6523668" y="4159548"/>
            <a:ext cx="2817643" cy="499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90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0.2%</a:t>
            </a:r>
            <a:endParaRPr lang="en-US" sz="3900"/>
          </a:p>
        </p:txBody>
      </p:sp>
      <p:sp>
        <p:nvSpPr>
          <p:cNvPr id="17" name="Text 15"/>
          <p:cNvSpPr/>
          <p:nvPr/>
        </p:nvSpPr>
        <p:spPr>
          <a:xfrm>
            <a:off x="6171450" y="4824909"/>
            <a:ext cx="3522078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5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Fraud Rate</a:t>
            </a:r>
            <a:endParaRPr lang="en-US" sz="1450"/>
          </a:p>
        </p:txBody>
      </p:sp>
      <p:sp>
        <p:nvSpPr>
          <p:cNvPr id="18" name="Text 16"/>
          <p:cNvSpPr/>
          <p:nvPr/>
        </p:nvSpPr>
        <p:spPr>
          <a:xfrm>
            <a:off x="6171450" y="5133677"/>
            <a:ext cx="3522078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0000"/>
              </a:lnSpc>
              <a:buNone/>
            </a:pPr>
            <a:endParaRPr lang="en-US" sz="115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D6F4363-4556-088B-F036-8C47A25EED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9131" y="6486110"/>
            <a:ext cx="2353003" cy="3715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56630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Interactive Slicers</a:t>
            </a:r>
            <a:endParaRPr lang="en-US" sz="3700"/>
          </a:p>
        </p:txBody>
      </p:sp>
      <p:sp>
        <p:nvSpPr>
          <p:cNvPr id="3" name="Text 1"/>
          <p:cNvSpPr/>
          <p:nvPr/>
        </p:nvSpPr>
        <p:spPr>
          <a:xfrm>
            <a:off x="661475" y="1625302"/>
            <a:ext cx="10868745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analytical dashboard is designed for dynamic exploration. Slicers allow users to filter the dashboard interactively and analyze specific segments of the transaction data.</a:t>
            </a:r>
            <a:endParaRPr lang="en-US" sz="145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2442766"/>
            <a:ext cx="378014" cy="37802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75723" y="2507655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Transaction Status</a:t>
            </a:r>
            <a:endParaRPr lang="en-US" sz="1850"/>
          </a:p>
        </p:txBody>
      </p:sp>
      <p:sp>
        <p:nvSpPr>
          <p:cNvPr id="6" name="Text 3"/>
          <p:cNvSpPr/>
          <p:nvPr/>
        </p:nvSpPr>
        <p:spPr>
          <a:xfrm>
            <a:off x="1275723" y="2916337"/>
            <a:ext cx="285117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Failed / Successful transactions</a:t>
            </a:r>
            <a:endParaRPr lang="en-US" sz="145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63135" y="2442766"/>
            <a:ext cx="378014" cy="37802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977383" y="2507655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Merchant Category</a:t>
            </a:r>
            <a:endParaRPr lang="en-US" sz="1850"/>
          </a:p>
        </p:txBody>
      </p:sp>
      <p:sp>
        <p:nvSpPr>
          <p:cNvPr id="9" name="Text 5"/>
          <p:cNvSpPr/>
          <p:nvPr/>
        </p:nvSpPr>
        <p:spPr>
          <a:xfrm>
            <a:off x="4977383" y="2916337"/>
            <a:ext cx="2851178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Compare different merchant segments</a:t>
            </a:r>
            <a:endParaRPr lang="en-US" sz="145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64794" y="2442766"/>
            <a:ext cx="378014" cy="378023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679042" y="2507655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Sender State</a:t>
            </a:r>
            <a:endParaRPr lang="en-US" sz="1850"/>
          </a:p>
        </p:txBody>
      </p:sp>
      <p:sp>
        <p:nvSpPr>
          <p:cNvPr id="12" name="Text 7"/>
          <p:cNvSpPr/>
          <p:nvPr/>
        </p:nvSpPr>
        <p:spPr>
          <a:xfrm>
            <a:off x="8679042" y="2916337"/>
            <a:ext cx="2851178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Analyze transactions geographically</a:t>
            </a:r>
            <a:endParaRPr lang="en-US" sz="145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1475" y="3899198"/>
            <a:ext cx="378014" cy="378023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275723" y="3964087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Device Type</a:t>
            </a:r>
            <a:endParaRPr lang="en-US" sz="1850"/>
          </a:p>
        </p:txBody>
      </p:sp>
      <p:sp>
        <p:nvSpPr>
          <p:cNvPr id="15" name="Text 9"/>
          <p:cNvSpPr/>
          <p:nvPr/>
        </p:nvSpPr>
        <p:spPr>
          <a:xfrm>
            <a:off x="1275723" y="4372769"/>
            <a:ext cx="2851178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Android, iOS and Web</a:t>
            </a:r>
            <a:endParaRPr lang="en-US" sz="145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63135" y="3899198"/>
            <a:ext cx="378014" cy="378023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4977383" y="3964087"/>
            <a:ext cx="2851178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Is Weekend</a:t>
            </a:r>
            <a:endParaRPr lang="en-US" sz="1850"/>
          </a:p>
        </p:txBody>
      </p:sp>
      <p:sp>
        <p:nvSpPr>
          <p:cNvPr id="18" name="Text 11"/>
          <p:cNvSpPr/>
          <p:nvPr/>
        </p:nvSpPr>
        <p:spPr>
          <a:xfrm>
            <a:off x="4977383" y="4372769"/>
            <a:ext cx="2851178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Compare weekday and weekend activity</a:t>
            </a:r>
            <a:endParaRPr lang="en-US" sz="1450"/>
          </a:p>
        </p:txBody>
      </p:sp>
      <p:sp>
        <p:nvSpPr>
          <p:cNvPr id="19" name="Text 12"/>
          <p:cNvSpPr/>
          <p:nvPr/>
        </p:nvSpPr>
        <p:spPr>
          <a:xfrm>
            <a:off x="661475" y="5261074"/>
            <a:ext cx="10868745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Purpose</a:t>
            </a:r>
            <a:endParaRPr lang="en-US" sz="2200"/>
          </a:p>
        </p:txBody>
      </p:sp>
      <p:sp>
        <p:nvSpPr>
          <p:cNvPr id="20" name="Text 13"/>
          <p:cNvSpPr/>
          <p:nvPr/>
        </p:nvSpPr>
        <p:spPr>
          <a:xfrm>
            <a:off x="661475" y="5898952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Slicers allow users to filter the dashboard interactively and analyze specific segments of the transaction data.</a:t>
            </a:r>
            <a:endParaRPr lang="en-US" sz="145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2EE8919-6FF9-602F-D5A3-9D41BE517DA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38997" y="6431431"/>
            <a:ext cx="2353003" cy="3715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1316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Interactive Dashboard</a:t>
            </a:r>
            <a:endParaRPr lang="en-US" sz="2950"/>
          </a:p>
        </p:txBody>
      </p:sp>
      <p:sp>
        <p:nvSpPr>
          <p:cNvPr id="3" name="Text 1"/>
          <p:cNvSpPr/>
          <p:nvPr/>
        </p:nvSpPr>
        <p:spPr>
          <a:xfrm>
            <a:off x="661475" y="1052116"/>
            <a:ext cx="10868745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UPI Transaction Analytics Dashboard</a:t>
            </a:r>
            <a:endParaRPr lang="en-US" sz="1450"/>
          </a:p>
        </p:txBody>
      </p:sp>
      <p:sp>
        <p:nvSpPr>
          <p:cNvPr id="5" name="Text 2"/>
          <p:cNvSpPr/>
          <p:nvPr/>
        </p:nvSpPr>
        <p:spPr>
          <a:xfrm>
            <a:off x="661475" y="5290344"/>
            <a:ext cx="10868745" cy="2834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endParaRPr lang="en-US" sz="1750"/>
          </a:p>
        </p:txBody>
      </p:sp>
      <p:sp>
        <p:nvSpPr>
          <p:cNvPr id="6" name="Text 3"/>
          <p:cNvSpPr/>
          <p:nvPr/>
        </p:nvSpPr>
        <p:spPr>
          <a:xfrm>
            <a:off x="661475" y="5755184"/>
            <a:ext cx="10868745" cy="5714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spcAft>
                <a:spcPts val="1050"/>
              </a:spcAft>
              <a:buNone/>
            </a:pPr>
            <a:endParaRPr lang="en-US" sz="11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AE8A82F-8EC2-1F6E-32D6-0719EE92A0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8997" y="6443611"/>
            <a:ext cx="2353003" cy="37152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59CBD15-1C60-B4A1-D738-A6BBC6A10D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779" y="1336676"/>
            <a:ext cx="11666136" cy="51915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50652"/>
            <a:ext cx="20464753" cy="7385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Transaction Trends &amp; Behavior</a:t>
            </a:r>
            <a:endParaRPr lang="en-US" sz="3300"/>
          </a:p>
        </p:txBody>
      </p:sp>
      <p:sp>
        <p:nvSpPr>
          <p:cNvPr id="3" name="Text 1"/>
          <p:cNvSpPr/>
          <p:nvPr/>
        </p:nvSpPr>
        <p:spPr>
          <a:xfrm>
            <a:off x="661475" y="1488455"/>
            <a:ext cx="10994613" cy="7184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Two temporal patterns stand out: monthly transaction value varies across the year, while hourly transaction activity builds through the day and peaks in the evening.</a:t>
            </a:r>
            <a:endParaRPr lang="en-US" sz="1300"/>
          </a:p>
        </p:txBody>
      </p:sp>
      <p:sp>
        <p:nvSpPr>
          <p:cNvPr id="4" name="Text 2"/>
          <p:cNvSpPr/>
          <p:nvPr/>
        </p:nvSpPr>
        <p:spPr>
          <a:xfrm>
            <a:off x="661475" y="2330922"/>
            <a:ext cx="9841747" cy="369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Monthly Transaction Value Trend</a:t>
            </a:r>
            <a:endParaRPr lang="en-US" sz="1650"/>
          </a:p>
        </p:txBody>
      </p:sp>
      <p:sp>
        <p:nvSpPr>
          <p:cNvPr id="6" name="Text 3"/>
          <p:cNvSpPr/>
          <p:nvPr/>
        </p:nvSpPr>
        <p:spPr>
          <a:xfrm>
            <a:off x="661475" y="5190671"/>
            <a:ext cx="5226911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Shows month-wise movement in transaction value, revealing seasonal patterns and peak activity periods.</a:t>
            </a:r>
            <a:endParaRPr lang="en-US" sz="1300"/>
          </a:p>
        </p:txBody>
      </p:sp>
      <p:sp>
        <p:nvSpPr>
          <p:cNvPr id="7" name="Text 4"/>
          <p:cNvSpPr/>
          <p:nvPr/>
        </p:nvSpPr>
        <p:spPr>
          <a:xfrm>
            <a:off x="6309659" y="2330922"/>
            <a:ext cx="9841747" cy="369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Transactions by Hour of Day</a:t>
            </a:r>
            <a:endParaRPr lang="en-US" sz="1650"/>
          </a:p>
        </p:txBody>
      </p:sp>
      <p:sp>
        <p:nvSpPr>
          <p:cNvPr id="9" name="Text 5"/>
          <p:cNvSpPr/>
          <p:nvPr/>
        </p:nvSpPr>
        <p:spPr>
          <a:xfrm>
            <a:off x="6309659" y="5158921"/>
            <a:ext cx="5226911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Reveals how transaction activity changes throughout the day, identifying peak usage hours for infrastructure planning.</a:t>
            </a:r>
            <a:endParaRPr lang="en-US" sz="130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8B0F9DF-68AF-D1FC-8477-ED4B67C94E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2804" y="6438743"/>
            <a:ext cx="2353003" cy="37152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900C43C-A89B-DB7D-8802-5D338BEDF5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475" y="2700074"/>
            <a:ext cx="4856047" cy="234419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A7E1B9-6146-A396-371A-693A27DABA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659" y="2715949"/>
            <a:ext cx="4856047" cy="232832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7825" y="816472"/>
            <a:ext cx="10868745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Category &amp; Transaction Type Analysis</a:t>
            </a:r>
            <a:endParaRPr lang="en-US" sz="3300"/>
          </a:p>
        </p:txBody>
      </p:sp>
      <p:sp>
        <p:nvSpPr>
          <p:cNvPr id="3" name="Text 1"/>
          <p:cNvSpPr/>
          <p:nvPr/>
        </p:nvSpPr>
        <p:spPr>
          <a:xfrm>
            <a:off x="667825" y="1732559"/>
            <a:ext cx="10868745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Transaction value is concentrated in Shopping, while transaction volume remains led by P2P Transfers, with P2M Payments and Bill Pay &amp; Recharge making up the remainder.</a:t>
            </a:r>
            <a:endParaRPr lang="en-US" sz="1300"/>
          </a:p>
        </p:txBody>
      </p:sp>
      <p:sp>
        <p:nvSpPr>
          <p:cNvPr id="4" name="Text 2"/>
          <p:cNvSpPr/>
          <p:nvPr/>
        </p:nvSpPr>
        <p:spPr>
          <a:xfrm>
            <a:off x="667825" y="2578894"/>
            <a:ext cx="5226911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Transaction Value by Merchant Category</a:t>
            </a:r>
            <a:endParaRPr lang="en-US" sz="1650"/>
          </a:p>
        </p:txBody>
      </p:sp>
      <p:sp>
        <p:nvSpPr>
          <p:cNvPr id="6" name="Text 3"/>
          <p:cNvSpPr/>
          <p:nvPr/>
        </p:nvSpPr>
        <p:spPr>
          <a:xfrm>
            <a:off x="655430" y="5511481"/>
            <a:ext cx="5226911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Compares transaction value across merchant categories, showing where user spending is concentrated.</a:t>
            </a:r>
            <a:endParaRPr lang="en-US" sz="1300"/>
          </a:p>
        </p:txBody>
      </p:sp>
      <p:sp>
        <p:nvSpPr>
          <p:cNvPr id="7" name="Text 4"/>
          <p:cNvSpPr/>
          <p:nvPr/>
        </p:nvSpPr>
        <p:spPr>
          <a:xfrm>
            <a:off x="6309659" y="2578894"/>
            <a:ext cx="5226911" cy="265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Transaction Volume by Type</a:t>
            </a:r>
            <a:endParaRPr lang="en-US" sz="1650"/>
          </a:p>
        </p:txBody>
      </p:sp>
      <p:sp>
        <p:nvSpPr>
          <p:cNvPr id="9" name="Text 5"/>
          <p:cNvSpPr/>
          <p:nvPr/>
        </p:nvSpPr>
        <p:spPr>
          <a:xfrm>
            <a:off x="6309659" y="5439961"/>
            <a:ext cx="5226911" cy="517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30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Shows the proportion of different transaction types, defining the platform's current usage identity.</a:t>
            </a:r>
            <a:endParaRPr lang="en-US" sz="130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3D7718B-B1F9-C5B5-68A3-2788EC46F5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8629" y="6438842"/>
            <a:ext cx="1943371" cy="41915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F11535A-E1FB-FEF1-474B-7E14FF7018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825" y="2869543"/>
            <a:ext cx="4810796" cy="2486372"/>
          </a:xfrm>
          <a:prstGeom prst="rect">
            <a:avLst/>
          </a:prstGeom>
          <a:ln>
            <a:solidFill>
              <a:schemeClr val="accent3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4B20AD6-D9CC-4DE0-EEAD-316FA9AE03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659" y="2869543"/>
            <a:ext cx="4421981" cy="2511314"/>
          </a:xfrm>
          <a:prstGeom prst="rect">
            <a:avLst/>
          </a:prstGeom>
          <a:ln>
            <a:solidFill>
              <a:schemeClr val="accent3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708511"/>
            <a:ext cx="19558988" cy="782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50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Bank &amp; Geographic Insights</a:t>
            </a:r>
            <a:endParaRPr lang="en-US" sz="3500"/>
          </a:p>
        </p:txBody>
      </p:sp>
      <p:sp>
        <p:nvSpPr>
          <p:cNvPr id="3" name="Text 1"/>
          <p:cNvSpPr/>
          <p:nvPr/>
        </p:nvSpPr>
        <p:spPr>
          <a:xfrm>
            <a:off x="661474" y="1610806"/>
            <a:ext cx="20655974" cy="3907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Two key views of UPI activity : The banks driving the most transactions and the states generating the highest transaction value.</a:t>
            </a:r>
            <a:endParaRPr lang="en-US" sz="1400"/>
          </a:p>
        </p:txBody>
      </p:sp>
      <p:sp>
        <p:nvSpPr>
          <p:cNvPr id="4" name="Text 2"/>
          <p:cNvSpPr/>
          <p:nvPr/>
        </p:nvSpPr>
        <p:spPr>
          <a:xfrm>
            <a:off x="661475" y="2253347"/>
            <a:ext cx="9385265" cy="3913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Top Sender Banks by Transaction Count</a:t>
            </a:r>
            <a:endParaRPr lang="en-US" sz="1750"/>
          </a:p>
        </p:txBody>
      </p:sp>
      <p:sp>
        <p:nvSpPr>
          <p:cNvPr id="6" name="Text 3"/>
          <p:cNvSpPr/>
          <p:nvPr/>
        </p:nvSpPr>
        <p:spPr>
          <a:xfrm>
            <a:off x="661475" y="5281888"/>
            <a:ext cx="5215303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Compares transaction counts across sender banks, signaling user adoption and platform penetration by bank.</a:t>
            </a:r>
            <a:endParaRPr lang="en-US" sz="1400"/>
          </a:p>
        </p:txBody>
      </p:sp>
      <p:sp>
        <p:nvSpPr>
          <p:cNvPr id="7" name="Text 4"/>
          <p:cNvSpPr/>
          <p:nvPr/>
        </p:nvSpPr>
        <p:spPr>
          <a:xfrm>
            <a:off x="6321267" y="2253347"/>
            <a:ext cx="9385265" cy="3913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5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Top States by Transaction Value</a:t>
            </a:r>
            <a:endParaRPr lang="en-US" sz="1750"/>
          </a:p>
        </p:txBody>
      </p:sp>
      <p:sp>
        <p:nvSpPr>
          <p:cNvPr id="9" name="Text 5"/>
          <p:cNvSpPr/>
          <p:nvPr/>
        </p:nvSpPr>
        <p:spPr>
          <a:xfrm>
            <a:off x="6321267" y="5345388"/>
            <a:ext cx="5215303" cy="560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Compares transaction value across states, reflecting geographic concentration of high-value activity and market potential.</a:t>
            </a:r>
            <a:endParaRPr lang="en-US" sz="140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D01EB64-EC0F-32CE-F69D-A15412A1E1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8629" y="6438842"/>
            <a:ext cx="1943371" cy="41915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BC277EF-8E63-341B-6483-F82DC55D02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1267" y="2644696"/>
            <a:ext cx="4706007" cy="254353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6D73D6F-962A-F4DC-07C7-0A1E027C18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430" y="2668489"/>
            <a:ext cx="4648849" cy="2519737"/>
          </a:xfrm>
          <a:prstGeom prst="rect">
            <a:avLst/>
          </a:prstGeom>
          <a:ln>
            <a:solidFill>
              <a:schemeClr val="accent3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1475" y="541139"/>
            <a:ext cx="572875" cy="166092"/>
          </a:xfrm>
          <a:prstGeom prst="roundRect">
            <a:avLst>
              <a:gd name="adj" fmla="val 22136"/>
            </a:avLst>
          </a:prstGeom>
          <a:solidFill>
            <a:srgbClr val="E8E8E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27057" y="573881"/>
            <a:ext cx="1051296" cy="1006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650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SUMMARY</a:t>
            </a:r>
            <a:endParaRPr lang="en-US" sz="650"/>
          </a:p>
        </p:txBody>
      </p:sp>
      <p:sp>
        <p:nvSpPr>
          <p:cNvPr id="4" name="Text 2"/>
          <p:cNvSpPr/>
          <p:nvPr/>
        </p:nvSpPr>
        <p:spPr>
          <a:xfrm>
            <a:off x="661475" y="732532"/>
            <a:ext cx="10868745" cy="3419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5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Key Findings &amp; Conclusion</a:t>
            </a:r>
            <a:endParaRPr lang="en-US" sz="2150"/>
          </a:p>
        </p:txBody>
      </p:sp>
      <p:sp>
        <p:nvSpPr>
          <p:cNvPr id="5" name="Shape 3"/>
          <p:cNvSpPr/>
          <p:nvPr/>
        </p:nvSpPr>
        <p:spPr>
          <a:xfrm>
            <a:off x="661475" y="1196677"/>
            <a:ext cx="10868745" cy="1270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61475" y="1331615"/>
            <a:ext cx="10868745" cy="1709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>
                <a:solidFill>
                  <a:srgbClr val="312F2B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Key Findings</a:t>
            </a:r>
            <a:endParaRPr lang="en-US" sz="1050"/>
          </a:p>
        </p:txBody>
      </p:sp>
      <p:sp>
        <p:nvSpPr>
          <p:cNvPr id="7" name="Text 5"/>
          <p:cNvSpPr/>
          <p:nvPr/>
        </p:nvSpPr>
        <p:spPr>
          <a:xfrm>
            <a:off x="1317294" y="2308622"/>
            <a:ext cx="1345869" cy="2735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15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250K</a:t>
            </a:r>
            <a:endParaRPr lang="en-US" sz="215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661" y="1624806"/>
            <a:ext cx="1641335" cy="164137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61475" y="3356769"/>
            <a:ext cx="2657805" cy="1709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Total Transactions</a:t>
            </a:r>
            <a:endParaRPr lang="en-US" sz="1050"/>
          </a:p>
        </p:txBody>
      </p:sp>
      <p:sp>
        <p:nvSpPr>
          <p:cNvPr id="10" name="Text 7"/>
          <p:cNvSpPr/>
          <p:nvPr/>
        </p:nvSpPr>
        <p:spPr>
          <a:xfrm>
            <a:off x="4054274" y="2308622"/>
            <a:ext cx="1345869" cy="2735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15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₹327.94M</a:t>
            </a:r>
            <a:endParaRPr lang="en-US" sz="215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6641" y="1624806"/>
            <a:ext cx="1641335" cy="16413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398455" y="3356769"/>
            <a:ext cx="2657805" cy="1709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Total Transaction Value</a:t>
            </a:r>
            <a:endParaRPr lang="en-US" sz="1050"/>
          </a:p>
        </p:txBody>
      </p:sp>
      <p:sp>
        <p:nvSpPr>
          <p:cNvPr id="13" name="Text 9"/>
          <p:cNvSpPr/>
          <p:nvPr/>
        </p:nvSpPr>
        <p:spPr>
          <a:xfrm>
            <a:off x="6791254" y="2308622"/>
            <a:ext cx="1345869" cy="2735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15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95%</a:t>
            </a:r>
            <a:endParaRPr lang="en-US" sz="2150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3621" y="1624806"/>
            <a:ext cx="1641335" cy="16413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135435" y="3356769"/>
            <a:ext cx="2657805" cy="1709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Success Rate</a:t>
            </a:r>
            <a:endParaRPr lang="en-US" sz="1050"/>
          </a:p>
        </p:txBody>
      </p:sp>
      <p:sp>
        <p:nvSpPr>
          <p:cNvPr id="16" name="Text 11"/>
          <p:cNvSpPr/>
          <p:nvPr/>
        </p:nvSpPr>
        <p:spPr>
          <a:xfrm>
            <a:off x="9528234" y="2308622"/>
            <a:ext cx="1345869" cy="2735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15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0.2%</a:t>
            </a:r>
            <a:endParaRPr lang="en-US" sz="215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80600" y="1624806"/>
            <a:ext cx="1641335" cy="164137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872415" y="3356769"/>
            <a:ext cx="2657805" cy="1709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Fraud Rate</a:t>
            </a:r>
            <a:endParaRPr lang="en-US" sz="1050"/>
          </a:p>
        </p:txBody>
      </p:sp>
      <p:sp>
        <p:nvSpPr>
          <p:cNvPr id="19" name="Text 13"/>
          <p:cNvSpPr/>
          <p:nvPr/>
        </p:nvSpPr>
        <p:spPr>
          <a:xfrm>
            <a:off x="4054274" y="4365427"/>
            <a:ext cx="1345869" cy="2735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15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Shopping</a:t>
            </a:r>
            <a:endParaRPr lang="en-US" sz="2150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06641" y="3681611"/>
            <a:ext cx="1641335" cy="1641376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3398455" y="5413573"/>
            <a:ext cx="2657805" cy="1709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Dominates Categories</a:t>
            </a:r>
            <a:endParaRPr lang="en-US" sz="1050"/>
          </a:p>
        </p:txBody>
      </p:sp>
      <p:sp>
        <p:nvSpPr>
          <p:cNvPr id="22" name="Text 15"/>
          <p:cNvSpPr/>
          <p:nvPr/>
        </p:nvSpPr>
        <p:spPr>
          <a:xfrm>
            <a:off x="6791254" y="4365427"/>
            <a:ext cx="1345869" cy="2735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15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45%</a:t>
            </a:r>
            <a:endParaRPr lang="en-US" sz="215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3621" y="3681611"/>
            <a:ext cx="1641335" cy="1641376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6135435" y="5413573"/>
            <a:ext cx="2657805" cy="1709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>
                <a:solidFill>
                  <a:srgbClr val="272525"/>
                </a:solidFill>
                <a:latin typeface="Gelasio" pitchFamily="34" charset="0"/>
                <a:ea typeface="Gelasio" pitchFamily="34" charset="-122"/>
                <a:cs typeface="Gelasio" pitchFamily="34" charset="-120"/>
              </a:rPr>
              <a:t>P2P Transfers</a:t>
            </a:r>
            <a:endParaRPr lang="en-US" sz="1050"/>
          </a:p>
        </p:txBody>
      </p:sp>
      <p:sp>
        <p:nvSpPr>
          <p:cNvPr id="25" name="Shape 17"/>
          <p:cNvSpPr/>
          <p:nvPr/>
        </p:nvSpPr>
        <p:spPr>
          <a:xfrm>
            <a:off x="661475" y="5683052"/>
            <a:ext cx="10868745" cy="12700"/>
          </a:xfrm>
          <a:prstGeom prst="roundRect">
            <a:avLst>
              <a:gd name="adj" fmla="val 49999"/>
            </a:avLst>
          </a:prstGeom>
          <a:solidFill>
            <a:srgbClr val="272525">
              <a:alpha val="5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Shape 18"/>
          <p:cNvSpPr/>
          <p:nvPr/>
        </p:nvSpPr>
        <p:spPr>
          <a:xfrm>
            <a:off x="661475" y="5794276"/>
            <a:ext cx="10868745" cy="313035"/>
          </a:xfrm>
          <a:prstGeom prst="roundRect">
            <a:avLst>
              <a:gd name="adj" fmla="val 14681"/>
            </a:avLst>
          </a:prstGeom>
          <a:solidFill>
            <a:srgbClr val="E8E8E3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0811" y="5884863"/>
            <a:ext cx="136720" cy="109339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1016868" y="5884863"/>
            <a:ext cx="11013601" cy="1382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850">
                <a:solidFill>
                  <a:srgbClr val="000000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The combination of KPIs, pivot tables, charts, and slicers equips stakeholders to identify trends, detect anomalies, and make data-driven decisions that enhance platform reliability and long-term growth.</a:t>
            </a:r>
            <a:endParaRPr lang="en-US" sz="850"/>
          </a:p>
        </p:txBody>
      </p:sp>
      <p:sp>
        <p:nvSpPr>
          <p:cNvPr id="29" name="Text 20"/>
          <p:cNvSpPr/>
          <p:nvPr/>
        </p:nvSpPr>
        <p:spPr>
          <a:xfrm>
            <a:off x="661475" y="6178550"/>
            <a:ext cx="11478330" cy="1382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endParaRPr lang="en-US" sz="85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1D76ACD9-E21D-FF07-46AE-181B17FBADF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48629" y="6388001"/>
            <a:ext cx="1943371" cy="41915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924D59-CEB4-3606-F25B-CAB9500F32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9576" y="6295947"/>
            <a:ext cx="1962424" cy="56205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9F4344E-5AB5-C9D5-D45E-DC395D20EA36}"/>
              </a:ext>
            </a:extLst>
          </p:cNvPr>
          <p:cNvSpPr txBox="1"/>
          <p:nvPr/>
        </p:nvSpPr>
        <p:spPr>
          <a:xfrm>
            <a:off x="4314775" y="2612571"/>
            <a:ext cx="365568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6000" b="1"/>
              <a:t>Thank You </a:t>
            </a:r>
          </a:p>
        </p:txBody>
      </p:sp>
    </p:spTree>
    <p:extLst>
      <p:ext uri="{BB962C8B-B14F-4D97-AF65-F5344CB8AC3E}">
        <p14:creationId xmlns:p14="http://schemas.microsoft.com/office/powerpoint/2010/main" val="11887067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544</Words>
  <Application>Microsoft Office PowerPoint</Application>
  <PresentationFormat>Widescreen</PresentationFormat>
  <Paragraphs>82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Lato</vt:lpstr>
      <vt:lpstr>Arial</vt:lpstr>
      <vt:lpstr>Gelasio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Vaishnavi Nagpure</dc:creator>
  <cp:lastModifiedBy>Vaishnavi Nagpure</cp:lastModifiedBy>
  <cp:revision>2</cp:revision>
  <dcterms:created xsi:type="dcterms:W3CDTF">2026-08-12T09:23:19Z</dcterms:created>
  <dcterms:modified xsi:type="dcterms:W3CDTF">2026-08-13T09:46:27Z</dcterms:modified>
</cp:coreProperties>
</file>